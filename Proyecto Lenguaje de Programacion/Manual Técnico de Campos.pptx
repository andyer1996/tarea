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69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1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6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62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6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34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5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9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8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3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21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0430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59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25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94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09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43019E8-21B8-4F3A-DB23-96FBAEE9E1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21937" y="6687820"/>
            <a:ext cx="35655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Uso Público de Laureate Perú — Se puede compartir externamente, información no sensible.</a:t>
            </a:r>
          </a:p>
        </p:txBody>
      </p:sp>
    </p:spTree>
    <p:extLst>
      <p:ext uri="{BB962C8B-B14F-4D97-AF65-F5344CB8AC3E}">
        <p14:creationId xmlns:p14="http://schemas.microsoft.com/office/powerpoint/2010/main" val="18669445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4433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75569"/>
            <a:ext cx="3048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442269"/>
            <a:ext cx="8601075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F8FAFC"/>
                </a:solidFill>
                <a:latin typeface="Plus Jakarta Sans"/>
              </a:rPr>
              <a:t>Sistema de </a:t>
            </a:r>
            <a:r>
              <a:rPr sz="3600" b="1" i="0" u="none" dirty="0" err="1">
                <a:solidFill>
                  <a:srgbClr val="F8FAFC"/>
                </a:solidFill>
                <a:latin typeface="Plus Jakarta Sans"/>
              </a:rPr>
              <a:t>Gestión</a:t>
            </a:r>
            <a:r>
              <a:rPr sz="3600" b="1" i="0" u="none" dirty="0">
                <a:solidFill>
                  <a:srgbClr val="F8FAFC"/>
                </a:solidFill>
                <a:latin typeface="Plus Jakarta Sans"/>
              </a:rPr>
              <a:t> de </a:t>
            </a:r>
            <a:r>
              <a:rPr sz="3600" b="1" i="0" u="none" dirty="0" err="1">
                <a:solidFill>
                  <a:srgbClr val="F8FAFC"/>
                </a:solidFill>
                <a:latin typeface="Plus Jakarta Sans"/>
              </a:rPr>
              <a:t>Establecimientos</a:t>
            </a:r>
            <a:r>
              <a:rPr sz="3600" b="1" i="0" u="none" dirty="0">
                <a:solidFill>
                  <a:srgbClr val="F8FAFC"/>
                </a:solidFill>
                <a:latin typeface="Plus Jakarta Sans"/>
              </a:rPr>
              <a:t> </a:t>
            </a:r>
            <a:r>
              <a:rPr sz="3600" b="1" i="0" u="none" dirty="0" err="1">
                <a:solidFill>
                  <a:srgbClr val="F8FAFC"/>
                </a:solidFill>
                <a:latin typeface="Plus Jakarta Sans"/>
              </a:rPr>
              <a:t>Médicos</a:t>
            </a:r>
            <a:endParaRPr sz="36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3768030"/>
            <a:ext cx="6762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Documentación y explicación detallada de todos los campos, formularios y consultas integradas.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2208907"/>
            <a:ext cx="3238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MANUAL TÉCNICO DE INTERFAZ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03C7A2-D2F8-25A2-A657-77FE4DDD1D27}"/>
              </a:ext>
            </a:extLst>
          </p:cNvPr>
          <p:cNvSpPr txBox="1"/>
          <p:nvPr/>
        </p:nvSpPr>
        <p:spPr>
          <a:xfrm>
            <a:off x="3835400" y="5080000"/>
            <a:ext cx="3770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.</a:t>
            </a:r>
            <a:r>
              <a:rPr lang="es-MX" b="1" dirty="0" err="1"/>
              <a:t>Jhanmer</a:t>
            </a:r>
            <a:r>
              <a:rPr lang="es-MX" b="1" dirty="0"/>
              <a:t> Andrey Meza Cacha</a:t>
            </a:r>
            <a:br>
              <a:rPr lang="es-MX" b="1" dirty="0"/>
            </a:br>
            <a:r>
              <a:rPr lang="es-MX" b="1" dirty="0"/>
              <a:t>.Andyer Barranzuela Crisanto</a:t>
            </a:r>
            <a:br>
              <a:rPr lang="es-MX" b="1" dirty="0"/>
            </a:br>
            <a:r>
              <a:rPr lang="es-MX" b="1" dirty="0"/>
              <a:t>.Cristian Aurelio Reinoso Zegarra</a:t>
            </a:r>
            <a:endParaRPr lang="es-PE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48875" y="614362"/>
            <a:ext cx="1533525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72361" y="2595562"/>
            <a:ext cx="5310038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72361" y="3919537"/>
            <a:ext cx="5310038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72361" y="2595562"/>
            <a:ext cx="38100" cy="1171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72361" y="3919537"/>
            <a:ext cx="38100" cy="1171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43087"/>
            <a:ext cx="5319861" cy="400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95487"/>
            <a:ext cx="5015061" cy="3695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4048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Mantenimiento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1275" y="671512"/>
            <a:ext cx="1323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Formulario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5188148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Mantenimiento de Pacientes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961" y="2786062"/>
            <a:ext cx="56910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Campos de Entrada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961" y="3062287"/>
            <a:ext cx="56910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Nombre: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Captura el primer y segundo nombre del paciente.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0961" y="3357562"/>
            <a:ext cx="56910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Apellido: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Registra los apellidos paterno y materno.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961" y="4110037"/>
            <a:ext cx="56910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Acciones de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961" y="4386262"/>
            <a:ext cx="56910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Registrar: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Valida y guarda al nuevo paciente en BD.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0961" y="4681537"/>
            <a:ext cx="569103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Cerrar: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Finaliza y cierra la ventana activa.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7E28156E-ABD4-C974-9446-CAD263B48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04" y="1295400"/>
            <a:ext cx="5334487" cy="43957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63125" y="614362"/>
            <a:ext cx="1819275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39594" y="2209800"/>
            <a:ext cx="5542805" cy="100012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39594" y="3324225"/>
            <a:ext cx="5542805" cy="100012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39594" y="4438650"/>
            <a:ext cx="5542805" cy="100012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8787"/>
            <a:ext cx="5125194" cy="419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81187"/>
            <a:ext cx="4820394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3200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Procesos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15525" y="671512"/>
            <a:ext cx="1609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Código Auto-generado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4075509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Crear Historial Médico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994" y="2362200"/>
            <a:ext cx="600000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Datos del Paciente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994" y="2619375"/>
            <a:ext cx="533325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Nombres, Apellidos, Fecha Nacimiento, DNI, Sexo (desplegable) y Tipo de Sangre.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994" y="3476625"/>
            <a:ext cx="600000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Consulta &amp; Evaluación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994" y="3733800"/>
            <a:ext cx="533325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Motivo de consulta: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Descripción de síntomas.</a:t>
            </a:r>
            <a:r>
              <a:t>
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Diagnóstico: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Veredicto clínico del médico.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994" y="4591050"/>
            <a:ext cx="600000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Antecedentes &amp; Alergias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994" y="4848225"/>
            <a:ext cx="533325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Casillas de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verificación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 para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Aspirina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Penicilina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Hipertensión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, Diabetes, Asma y </a:t>
            </a:r>
            <a:r>
              <a:rPr sz="1350" b="0" i="0" u="none" dirty="0" err="1">
                <a:solidFill>
                  <a:srgbClr val="334155"/>
                </a:solidFill>
                <a:latin typeface="Plus Jakarta Sans"/>
              </a:rPr>
              <a:t>otros</a:t>
            </a:r>
            <a:r>
              <a:rPr sz="135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EFC33AE-0138-2D78-D08D-88EDD472C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59" y="1576387"/>
            <a:ext cx="5291048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87000" y="614362"/>
            <a:ext cx="1295400" cy="2857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2716" y="2133600"/>
            <a:ext cx="5329683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716" y="3305175"/>
            <a:ext cx="5329683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52716" y="4476750"/>
            <a:ext cx="5329683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6412"/>
            <a:ext cx="5338316" cy="409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28812"/>
            <a:ext cx="5033516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38004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Procesos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9400" y="671512"/>
            <a:ext cx="108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2400E"/>
                </a:solidFill>
                <a:latin typeface="Plus Jakarta Sans"/>
              </a:rPr>
              <a:t>Gestión Médica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4863107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Registro y Agenda de Citas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4166" y="2305050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Paciente y Especialista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4166" y="2562225"/>
            <a:ext cx="5082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DNI / Nombre / Teléfono: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Identificación directa.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Especialidad / Médico: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Selección del profesional.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166" y="3476625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Programación y Motivo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4166" y="3733800"/>
            <a:ext cx="5082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Fecha / Hora: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Selectores de programación.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Motivo: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Detalle breve de la consulta requerida.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4166" y="4648200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Operaciones 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4166" y="4905375"/>
            <a:ext cx="5082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Botones habilitados: Nuevo, Registrar, Modificar, Cancelar y Cerrar ventana.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719C947-C1D8-A26B-B07E-0743B5041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97" y="1717675"/>
            <a:ext cx="5528522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48875" y="614362"/>
            <a:ext cx="1533525" cy="2857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2716" y="2243137"/>
            <a:ext cx="5329683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716" y="3414712"/>
            <a:ext cx="5329683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52716" y="4586287"/>
            <a:ext cx="5329683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6412"/>
            <a:ext cx="5338316" cy="409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28812"/>
            <a:ext cx="5033516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37052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Procesos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1275" y="671512"/>
            <a:ext cx="1323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Prescripción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4738092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Emisión de Receta Médica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4166" y="2414587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Prescripción Pharmacológica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4166" y="2671762"/>
            <a:ext cx="5082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Medicamento / Cantidad: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Fármaco e insumos.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Indicaciones: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Área de texto para Dosis, Frecuencia y Vía.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166" y="3586162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Validación Biométrica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4166" y="3843337"/>
            <a:ext cx="5082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Campos de control para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Alergias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Estatura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, Peso y Tipo de Sangre antes de </a:t>
            </a:r>
            <a:r>
              <a:rPr sz="1350" b="0" i="0" u="none" dirty="0" err="1">
                <a:solidFill>
                  <a:srgbClr val="475569"/>
                </a:solidFill>
                <a:latin typeface="Plus Jakarta Sans"/>
              </a:rPr>
              <a:t>despacho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4166" y="4757737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Finalización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4166" y="5014912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Enviar Receta: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Registra la receta y genera orden médica.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375CA71-669F-F8AD-E60B-6C03E71D6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521353"/>
            <a:ext cx="5628271" cy="3884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614362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2716" y="2133600"/>
            <a:ext cx="5329683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716" y="3305175"/>
            <a:ext cx="5329683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52716" y="4476750"/>
            <a:ext cx="5329683" cy="1038225"/>
          </a:xfrm>
          <a:prstGeom prst="roundRect">
            <a:avLst>
              <a:gd name="adj" fmla="val 9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6412"/>
            <a:ext cx="5338316" cy="409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28812"/>
            <a:ext cx="5033516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40862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Consultas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10800" y="671512"/>
            <a:ext cx="1314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21A8"/>
                </a:solidFill>
                <a:latin typeface="Plus Jakarta Sans"/>
              </a:rPr>
              <a:t>Búsqueda y Detalle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5238154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Consulta de Historial Médico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4166" y="2305050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Buscador Inteligente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4166" y="2562225"/>
            <a:ext cx="5082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Permite buscar por DNI o N.° de Historial. Botón "Mostrar todos" para listado global.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166" y="3476625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Tabla de Coincidencias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4166" y="3733800"/>
            <a:ext cx="5082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Muestra historial, DNI, nombres, apellidos, fecha nacimiento y sexo en grilla estructurada.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4166" y="4648200"/>
            <a:ext cx="576783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Vista Detallada Inferior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4166" y="4905375"/>
            <a:ext cx="50820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Muestra ficha seleccionada: Motivo de consulta y Diagnóstico guardado previo.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0B4104D-B057-85CD-5673-F36C70B9E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757362"/>
            <a:ext cx="5324374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67975" y="614362"/>
            <a:ext cx="1114425" cy="28575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2716" y="2457450"/>
            <a:ext cx="5329683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716" y="3705225"/>
            <a:ext cx="5329683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6412"/>
            <a:ext cx="5338316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81212"/>
            <a:ext cx="5033516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43434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Consultas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20375" y="671512"/>
            <a:ext cx="904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21A8"/>
                </a:solidFill>
                <a:latin typeface="Plus Jakarta Sans"/>
              </a:rPr>
              <a:t>Filtro por DNI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5575696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Consulta de Citas por Paciente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3216" y="2647950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Filtro de 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3216" y="2924175"/>
            <a:ext cx="50439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DNI Paciente: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Campo de búsqueda directa para consultar el itinerario completo del paciente.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216" y="3895725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Estructura del Gráfico/Tabla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216" y="4191000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N° Cita &amp; Fecha/Hora: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Datos cronológicos.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216" y="4486275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Médico &amp; Especialidad: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Profesional asignado.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216" y="4781550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Estado: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Status actual (Pendiente, Atendido).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96925D8C-68FE-C73E-2289-4D87DC668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20" y="1857111"/>
            <a:ext cx="5575696" cy="39343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01225" y="614362"/>
            <a:ext cx="1781175" cy="28575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2716" y="2533650"/>
            <a:ext cx="5329683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716" y="3781425"/>
            <a:ext cx="5329683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6412"/>
            <a:ext cx="5338316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28812"/>
            <a:ext cx="5033516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4743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Consultas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3625" y="671512"/>
            <a:ext cx="15716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B21A8"/>
                </a:solidFill>
                <a:latin typeface="Plus Jakarta Sans"/>
              </a:rPr>
              <a:t>Histórico Farmacéutico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6100762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Consulta de Recetas por Paciente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3216" y="2724150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Criterio de Búsqueda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3216" y="3000375"/>
            <a:ext cx="50439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DNI Paciente: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Filtra las prescripciones emitidas asociadas al documento de identidad.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216" y="3971925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Columnas Informativas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216" y="4267200"/>
            <a:ext cx="5043933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Visualiza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N° Receta, Fecha, Medicamento, Dosis, Indicaciones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específicas de administración y el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Médico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firmante.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FA18F9D-9DF9-2C3A-8F24-EFB11F509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84" y="1816629"/>
            <a:ext cx="5670927" cy="3966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772650" y="614362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2716" y="2652712"/>
            <a:ext cx="5329683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716" y="3900487"/>
            <a:ext cx="5329683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6412"/>
            <a:ext cx="5338316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28812"/>
            <a:ext cx="5033516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45815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Reportes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5050" y="671512"/>
            <a:ext cx="1600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2410C"/>
                </a:solidFill>
                <a:latin typeface="Plus Jakarta Sans"/>
              </a:rPr>
              <a:t>Generación e Impresión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588823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Reporte de Análisis de Pacientes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3216" y="2843212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Generar Reporte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3216" y="3119437"/>
            <a:ext cx="50439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Compila los datos demográficos y métricas de pacientes registrados en el visor central.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216" y="4090987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Imprimir / Exportar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216" y="4367212"/>
            <a:ext cx="50439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Permite enviar el reporte a formato físico o convertirlo a documento PDF / Excel.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A1AA63-AC7B-A5BC-A4F8-72DA04721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40" y="1745456"/>
            <a:ext cx="5993026" cy="41576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82200" y="614362"/>
            <a:ext cx="1600200" cy="28575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2716" y="2652712"/>
            <a:ext cx="5329683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716" y="3900487"/>
            <a:ext cx="5329683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6412"/>
            <a:ext cx="5338316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28812"/>
            <a:ext cx="5033516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5495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Reportes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4600" y="671512"/>
            <a:ext cx="1390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2410C"/>
                </a:solidFill>
                <a:latin typeface="Plus Jakarta Sans"/>
              </a:rPr>
              <a:t>Análisis Consolidado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7088385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Reporte de Análisis de Historial Médico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3216" y="2843212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Menú Desplegable de Selección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3216" y="3119437"/>
            <a:ext cx="50439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Accesible desde la pestaña principal </a:t>
            </a:r>
            <a:r>
              <a:rPr sz="1350" b="0" i="1" u="none">
                <a:solidFill>
                  <a:srgbClr val="475569"/>
                </a:solidFill>
                <a:latin typeface="Plus Jakarta Sans"/>
              </a:rPr>
              <a:t>Reportes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en la barra de navegación superior.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216" y="4090987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Salida de Análisis Clínico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216" y="4367212"/>
            <a:ext cx="50439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Procesa diagnósticos recurrentes, alérgenos comunes y antecedentes de los pacientes.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324B0F4-FCFB-C87B-D638-C1E4166D0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61" y="1928812"/>
            <a:ext cx="5855139" cy="39192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15550" y="614362"/>
            <a:ext cx="1466850" cy="28575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2716" y="2543175"/>
            <a:ext cx="5329683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716" y="3790950"/>
            <a:ext cx="5329683" cy="131445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6412"/>
            <a:ext cx="5338316" cy="409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928812"/>
            <a:ext cx="5033516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47910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Módulo: Reportes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7950" y="671512"/>
            <a:ext cx="1257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2410C"/>
                </a:solidFill>
                <a:latin typeface="Plus Jakarta Sans"/>
              </a:rPr>
              <a:t>Control Operativo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616327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Reporte General de Citas Médicas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3216" y="2733675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Vista Consolidada de Citas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3216" y="3009900"/>
            <a:ext cx="504393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Muestra el acumulado de citas programadas por especialidad, fecha y estado de atención.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216" y="3981450"/>
            <a:ext cx="574878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Funciones Principales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216" y="4257675"/>
            <a:ext cx="5043933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lus Jakarta Sans"/>
              </a:rPr>
              <a:t>Generar Reporte: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Ejecuta la consulta global.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Imprimir / Exportar: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Emisión del consolidado en formato de impresión.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C618B23A-C223-D802-D4A9-5077F12AC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28" y="1776411"/>
            <a:ext cx="5895558" cy="4005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67125" y="4333875"/>
            <a:ext cx="4857750" cy="542925"/>
          </a:xfrm>
          <a:prstGeom prst="roundRect">
            <a:avLst>
              <a:gd name="adj" fmla="val 210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812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336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51807" y="2819400"/>
            <a:ext cx="708838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Plus Jakarta Sans"/>
              </a:rPr>
              <a:t>Resumen del Sistema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3457575"/>
            <a:ext cx="833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El sistema integra 4 módulos principales: </a:t>
            </a:r>
            <a:r>
              <a:rPr sz="1500" b="1" i="0" u="none">
                <a:solidFill>
                  <a:srgbClr val="94A3B8"/>
                </a:solidFill>
                <a:latin typeface="Plus Jakarta Sans"/>
              </a:rPr>
              <a:t>Mantenimiento</a:t>
            </a:r>
            <a:r>
              <a:rPr sz="1500" b="0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sz="1500" b="1" i="0" u="none">
                <a:solidFill>
                  <a:srgbClr val="94A3B8"/>
                </a:solidFill>
                <a:latin typeface="Plus Jakarta Sans"/>
              </a:rPr>
              <a:t>Procesos</a:t>
            </a:r>
            <a:r>
              <a:rPr sz="1500" b="0" i="0" u="none">
                <a:solidFill>
                  <a:srgbClr val="94A3B8"/>
                </a:solidFill>
                <a:latin typeface="Plus Jakarta Sans"/>
              </a:rPr>
              <a:t>, </a:t>
            </a:r>
            <a:r>
              <a:rPr sz="1500" b="1" i="0" u="none">
                <a:solidFill>
                  <a:srgbClr val="94A3B8"/>
                </a:solidFill>
                <a:latin typeface="Plus Jakarta Sans"/>
              </a:rPr>
              <a:t>Consultas</a:t>
            </a:r>
            <a:r>
              <a:rPr sz="1500" b="0" i="0" u="none">
                <a:solidFill>
                  <a:srgbClr val="94A3B8"/>
                </a:solidFill>
                <a:latin typeface="Plus Jakarta Sans"/>
              </a:rPr>
              <a:t> y </a:t>
            </a:r>
            <a:r>
              <a:rPr sz="1500" b="1" i="0" u="none">
                <a:solidFill>
                  <a:srgbClr val="94A3B8"/>
                </a:solidFill>
                <a:latin typeface="Plus Jakarta Sans"/>
              </a:rPr>
              <a:t>Reportes</a:t>
            </a:r>
            <a:r>
              <a:rPr sz="1500" b="0" i="0" u="none">
                <a:solidFill>
                  <a:srgbClr val="94A3B8"/>
                </a:solidFill>
                <a:latin typeface="Plus Jakarta Sans"/>
              </a:rPr>
              <a:t> para la gestión integral del establecimiento médico.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706" y="4486275"/>
            <a:ext cx="546258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lus Jakarta Sans"/>
              </a:rPr>
              <a:t>¿Preguntas sobre la asignación de campos o flujos?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21043eba-6d80-42c3-9d1d-2f886024713c}" enabled="1" method="Standard" siteId="{ae544a57-aecb-4bf9-828a-5b520732b11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644</Words>
  <Application>Microsoft Office PowerPoint</Application>
  <PresentationFormat>Panorámica</PresentationFormat>
  <Paragraphs>89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Plus Jakarta Sans</vt:lpstr>
      <vt:lpstr>Century Gothic</vt:lpstr>
      <vt:lpstr>Aptos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Andyer Manuel Barranzuela Crisanto</dc:creator>
  <cp:keywords/>
  <dc:description>generated using python-pptx</dc:description>
  <cp:lastModifiedBy>Andyer M. Barranzuela Crisanto</cp:lastModifiedBy>
  <cp:revision>3</cp:revision>
  <dcterms:created xsi:type="dcterms:W3CDTF">2013-01-27T09:14:16Z</dcterms:created>
  <dcterms:modified xsi:type="dcterms:W3CDTF">2026-09-24T20:19:30Z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Ion:12</vt:lpwstr>
  </property>
  <property fmtid="{D5CDD505-2E9C-101B-9397-08002B2CF9AE}" pid="3" name="ClassificationContentMarkingFooterText">
    <vt:lpwstr>Uso Público de Laureate Perú — Se puede compartir externamente, información no sensible.</vt:lpwstr>
  </property>
</Properties>
</file>